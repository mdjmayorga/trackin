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0" spc="220">
                <a:solidFill>
                  <a:srgbClr val="52BDB4"/>
                </a:solidFill>
                <a:latin typeface="Segoe UI Semibold"/>
              </a:rPr>
              <a:t>TRACKIN · NOTA PARA COMPRAS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9692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400"/>
              </a:spcAft>
            </a:pPr>
            <a:r>
              <a:rPr sz="5400" b="0">
                <a:solidFill>
                  <a:srgbClr val="F2F6F5"/>
                </a:solidFill>
                <a:latin typeface="Segoe UI Semibold"/>
              </a:rPr>
              <a:t>Rastreo de compras internacionales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A0B5BA"/>
                </a:solidFill>
                <a:latin typeface="Segoe UI"/>
              </a:rPr>
              <a:t>La opción elegida de proveedor, su costo y lo que se decide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5120640"/>
            <a:ext cx="2926080" cy="19050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34924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4898F"/>
                </a:solidFill>
                <a:latin typeface="Consolas"/>
              </a:rPr>
              <a:t>16 de septiembre de 2026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4898F"/>
                </a:solidFill>
                <a:latin typeface="Consolas"/>
              </a:rPr>
              <a:t>Sprint 3 · TASK-28 · Laboratorios Gutis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LA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Lo que se pide en esta reunión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457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800" cy="1207008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20370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6D6D4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185416"/>
            <a:ext cx="90827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16323A"/>
                </a:solidFill>
                <a:latin typeface="Segoe UI Semibold"/>
              </a:rPr>
              <a:t>Aprobar ShipsGo como proveedor de rastreo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B74"/>
                </a:solidFill>
                <a:latin typeface="Segoe UI"/>
              </a:rPr>
              <a:t>Para vía marítima y aérea. Los dos proveedores elegidos en septiembre nunca respondieron.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105457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50800" cy="1207008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62102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6D6D4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602736"/>
            <a:ext cx="90827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16323A"/>
                </a:solidFill>
                <a:latin typeface="Segoe UI Semibold"/>
              </a:rPr>
              <a:t>Aprobar ~US$750 al año, a comprar en diciembre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B74"/>
                </a:solidFill>
                <a:latin typeface="Segoe UI"/>
              </a:rPr>
              <a:t>No ahora: los créditos vencen al año y el sistema entra en producción en diciembre. Más US$100 para pruebas durante el desarrollo.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00600"/>
            <a:ext cx="105457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800600"/>
            <a:ext cx="50800" cy="1207008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503834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6D6D4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5020056"/>
            <a:ext cx="90827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16323A"/>
                </a:solidFill>
                <a:latin typeface="Segoe UI Semibold"/>
              </a:rPr>
              <a:t>Exigir la referencia de embarque en la orden de compra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B74"/>
                </a:solidFill>
                <a:latin typeface="Segoe UI"/>
              </a:rPr>
              <a:t>Para los pedidos CIF, CIP y CPT. Es la acción que depende de Compras, y sin ella el sistema no rastrea nada.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ANTECEDENTE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Por qué cambió el proveedor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6323A"/>
                </a:solidFill>
                <a:latin typeface="Segoe UI"/>
              </a:rPr>
              <a:t>El 4 de septiembre se aprobó comprar Vizion para lo marítimo y Portcast para lo aéreo.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9B2C2C"/>
                </a:solidFill>
                <a:latin typeface="Segoe UI Semibold"/>
              </a:rPr>
              <a:t>Ninguno de los dos respondió a la solicitud de cotización.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6323A"/>
                </a:solidFill>
                <a:latin typeface="Segoe UI"/>
              </a:rPr>
              <a:t>Sin contrato y sin credencial, ese plan no se puede ejecutar. Se evaluaron los dos sustitutos que sí entregaron acceso de prueba.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323A"/>
                </a:solidFill>
                <a:latin typeface="Segoe UI"/>
              </a:rPr>
              <a:t>La diferencia entre ellos no fue de precio ni de calidad: TrackingMore no rastrea carga aérea.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920240"/>
            <a:ext cx="45262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2128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50">
                <a:solidFill>
                  <a:srgbClr val="7E949B"/>
                </a:solidFill>
                <a:latin typeface="Segoe UI Semibold"/>
              </a:rPr>
              <a:t>AEROLÍNEAS EN SU CATÁLOGO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8346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23A"/>
                </a:solidFill>
                <a:latin typeface="Segoe UI Semibold"/>
              </a:rPr>
              <a:t>ShipsGo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3218688"/>
            <a:ext cx="2651760" cy="274320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3536" y="32004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6E6B"/>
                </a:solidFill>
                <a:latin typeface="Consolas"/>
              </a:rPr>
              <a:t>207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8862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23A"/>
                </a:solidFill>
                <a:latin typeface="Segoe UI Semibold"/>
              </a:rPr>
              <a:t>TrackingMore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270248"/>
            <a:ext cx="38100" cy="274320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9876" y="425196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B2C2C"/>
                </a:solidFill>
                <a:latin typeface="Consola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4988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B74"/>
                </a:solidFill>
                <a:latin typeface="Segoe UI"/>
              </a:rPr>
              <a:t>De las 22 aerolíneas que cubren las rutas de Gutis, ShipsGo tiene las 22.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Vizion y Portcast quedan descartados por falta de respuesta del proveedor.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Se probó con embarques reales de Gutis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B74"/>
                </a:solidFill>
                <a:latin typeface="Segoe UI"/>
              </a:rPr>
              <a:t>No es una evaluación sobre folletos: se dieron de alta referencias reales y se verificó qué devuelve el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9464"/>
            <a:ext cx="204043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Referencia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7985" y="2569464"/>
            <a:ext cx="3286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Ruta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9329" y="2569464"/>
            <a:ext cx="47248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Qué devolvió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545775" cy="9525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35224"/>
            <a:ext cx="204043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3A"/>
                </a:solidFill>
                <a:latin typeface="Consolas"/>
              </a:rPr>
              <a:t>MRSU8507472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7985" y="2935224"/>
            <a:ext cx="3286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Santos → Cartagena → Puerto Moín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329" y="2935224"/>
            <a:ext cx="47248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6B3F"/>
                </a:solidFill>
                <a:latin typeface="Segoe UI"/>
              </a:rPr>
              <a:t>Posición del buque, ETA, 8 hitos, transbordo detectado solo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47288"/>
            <a:ext cx="10545775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2"/>
            <a:ext cx="204043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3A"/>
                </a:solidFill>
                <a:latin typeface="Consolas"/>
              </a:rPr>
              <a:t>COSU6508789000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7985" y="3502152"/>
            <a:ext cx="3286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Ningbo → Chancay → Caldera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329" y="3502152"/>
            <a:ext cx="47248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6B3F"/>
                </a:solidFill>
                <a:latin typeface="Segoe UI"/>
              </a:rPr>
              <a:t>ETA 5 de octubre, 6 hitos, IMO del buque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14216"/>
            <a:ext cx="10545775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204043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3A"/>
                </a:solidFill>
                <a:latin typeface="Consolas"/>
              </a:rPr>
              <a:t>020-50685434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7985" y="4069080"/>
            <a:ext cx="3286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Beijing → Fráncfort → San José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329" y="4069080"/>
            <a:ext cx="47248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6B3F"/>
                </a:solidFill>
                <a:latin typeface="Segoe UI"/>
              </a:rPr>
              <a:t>10 hitos, los dos vuelos, entrega confirmada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581144"/>
            <a:ext cx="10545775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36008"/>
            <a:ext cx="204043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3A"/>
                </a:solidFill>
                <a:latin typeface="Consolas"/>
              </a:rPr>
              <a:t>6163512401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7985" y="4636008"/>
            <a:ext cx="328675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329" y="4636008"/>
            <a:ext cx="47248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2C2C"/>
                </a:solidFill>
                <a:latin typeface="Segoe UI"/>
              </a:rPr>
              <a:t>No sirve: es un HAWB del agente, no la guía madre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148072"/>
            <a:ext cx="10545775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10545775" cy="713232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605272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323A"/>
                </a:solidFill>
                <a:latin typeface="Segoe UI"/>
              </a:rPr>
              <a:t>El último caso importa: el número que entrega el agente de carga muchas veces no es el que sirve. Hay que exigir la guía madre de la aerolínea.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Pruebas del 14/09/2026 con acceso gratuito de evaluación · sin costo para Gutis.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PRESUPUESTO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Cuánto cuesta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120640" cy="1600200"/>
          </a:xfrm>
          <a:prstGeom prst="rect">
            <a:avLst/>
          </a:prstGeom>
          <a:solidFill>
            <a:srgbClr val="F6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945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8C5A12"/>
                </a:solidFill>
                <a:latin typeface="Segoe UI Semibold"/>
              </a:rPr>
              <a:t>US$750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6323A"/>
                </a:solidFill>
                <a:latin typeface="Segoe UI"/>
              </a:rPr>
              <a:t>por año, estimado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B74"/>
                </a:solidFill>
                <a:latin typeface="Consolas"/>
              </a:rPr>
              <a:t>Rango: US$620 a US$890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6323A"/>
                </a:solidFill>
                <a:latin typeface="Segoe UI"/>
              </a:rPr>
              <a:t>Se paga por embarque registrado: US$2 cada uno.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B74"/>
                </a:solidFill>
                <a:latin typeface="Segoe UI"/>
              </a:rPr>
              <a:t>Un conocimiento de embarque cuesta un crédito sin importar cuántos contenedores ampare. Consultar la posición cuantas veces se quiera no cuesta nada.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975104"/>
            <a:ext cx="3171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Cálculo sobre el Z-tracking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7623" y="1975104"/>
            <a:ext cx="12089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Valor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2286000"/>
            <a:ext cx="4709160" cy="9525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40864"/>
            <a:ext cx="31710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Órdenes internacionales abiertas hoy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7623" y="2340864"/>
            <a:ext cx="120891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119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1968" y="2761488"/>
            <a:ext cx="47091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816352"/>
            <a:ext cx="31710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De ellas, rastreables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7623" y="2816352"/>
            <a:ext cx="120891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117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3236976"/>
            <a:ext cx="47091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291840"/>
            <a:ext cx="31710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Tiempo medio de pedido a llegada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7623" y="3291840"/>
            <a:ext cx="120891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138 días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1968" y="3712464"/>
            <a:ext cx="47091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767328"/>
            <a:ext cx="31710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Embarques al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7623" y="3767328"/>
            <a:ext cx="120891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≈ 374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4187952"/>
            <a:ext cx="47091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4187952"/>
            <a:ext cx="4928616" cy="475488"/>
          </a:xfrm>
          <a:prstGeom prst="rect">
            <a:avLst/>
          </a:prstGeom>
          <a:solidFill>
            <a:srgbClr val="F6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187952"/>
            <a:ext cx="38100" cy="475488"/>
          </a:xfrm>
          <a:prstGeom prst="rect">
            <a:avLst/>
          </a:prstGeom>
          <a:solidFill>
            <a:srgbClr val="8C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242816"/>
            <a:ext cx="31710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Segoe UI Semibold"/>
              </a:rPr>
              <a:t>Costo anual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7623" y="4242816"/>
            <a:ext cx="120891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Consolas"/>
              </a:rPr>
              <a:t>US$749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4663440"/>
            <a:ext cx="47091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532120"/>
            <a:ext cx="1054577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687568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323A"/>
                </a:solidFill>
                <a:latin typeface="Segoe UI"/>
              </a:rPr>
              <a:t>Para contrastar: 98 de 429 líneas de orden están atrasadas — un 23 %. El sistema se paga solo si anticipar un atraso vale más de US$7 por línea.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MOMENTO DE COMPRA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Por qué comprar en diciembre y no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323A"/>
                </a:solidFill>
                <a:latin typeface="Segoe UI"/>
              </a:rPr>
              <a:t>Los créditos vencen un año después de la compra, y el reloj arranca el día que se pagan, no el día que se usan. El sistema entra en producción hacia diciembre.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80944"/>
            <a:ext cx="3675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Momento de 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98094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Meses aprovechables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98094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Se pierde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91840"/>
            <a:ext cx="7863840" cy="9525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46704"/>
            <a:ext cx="367588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Hoy · 400 créditos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46704"/>
            <a:ext cx="22128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9,4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346704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B2C2C"/>
                </a:solidFill>
                <a:latin typeface="Consolas"/>
              </a:rPr>
              <a:t>US$185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03904"/>
            <a:ext cx="786384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803904"/>
            <a:ext cx="8083296" cy="512064"/>
          </a:xfrm>
          <a:prstGeom prst="rect">
            <a:avLst/>
          </a:prstGeom>
          <a:solidFill>
            <a:srgbClr val="F6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803904"/>
            <a:ext cx="38100" cy="512064"/>
          </a:xfrm>
          <a:prstGeom prst="rect">
            <a:avLst/>
          </a:prstGeom>
          <a:solidFill>
            <a:srgbClr val="8C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367588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Segoe UI Semibold"/>
              </a:rPr>
              <a:t>Diciembre · 200 créditos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58768"/>
            <a:ext cx="22128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Consola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858768"/>
            <a:ext cx="14813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Consolas"/>
              </a:rPr>
              <a:t>US$0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15968"/>
            <a:ext cx="786384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00600"/>
            <a:ext cx="7863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983480"/>
            <a:ext cx="7223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323A"/>
                </a:solidFill>
                <a:latin typeface="Segoe UI"/>
              </a:rPr>
              <a:t>Recomendación: dos tandas de 200 créditos, la segunda hacia junio de 2027 y ya con consumo real medido.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B74"/>
                </a:solidFill>
                <a:latin typeface="Segoe UI"/>
              </a:rPr>
              <a:t>Solo un descuento por volumen justificaría una sola compra grande.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ACCIONES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Lo que necesitamos de Compras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B74"/>
                </a:solidFill>
                <a:latin typeface="Segoe UI"/>
              </a:rPr>
              <a:t>Sin la referencia de embarque, ninguna API devuelve nada — no importa cuánto se pague. Y quién la tiene lo decide el incoterm de la orden.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0904"/>
            <a:ext cx="18544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Incoterm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1955" y="2660904"/>
            <a:ext cx="84490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Órdenes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1452" y="2660904"/>
            <a:ext cx="3116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526B74"/>
                </a:solidFill>
                <a:latin typeface="Segoe UI Semibold"/>
              </a:rPr>
              <a:t>Quién tiene la referencia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71800"/>
            <a:ext cx="6309360" cy="9525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971800"/>
            <a:ext cx="6528816" cy="457200"/>
          </a:xfrm>
          <a:prstGeom prst="rect">
            <a:avLst/>
          </a:prstGeom>
          <a:solidFill>
            <a:srgbClr val="F6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971800"/>
            <a:ext cx="38100" cy="457200"/>
          </a:xfrm>
          <a:prstGeom prst="rect">
            <a:avLst/>
          </a:prstGeom>
          <a:solidFill>
            <a:srgbClr val="8C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26664"/>
            <a:ext cx="1854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Consolas"/>
              </a:rPr>
              <a:t>CIF · CIP · CPT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1955" y="3026664"/>
            <a:ext cx="8449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Consolas"/>
              </a:rPr>
              <a:t>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1452" y="3026664"/>
            <a:ext cx="311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5A12"/>
                </a:solidFill>
                <a:latin typeface="Segoe UI Semibold"/>
              </a:rPr>
              <a:t>El proveedor — hay que exigírsela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29000"/>
            <a:ext cx="63093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83864"/>
            <a:ext cx="1854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3A"/>
                </a:solidFill>
                <a:latin typeface="Consolas"/>
              </a:rPr>
              <a:t>EXW · FOB · FCA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1955" y="3483864"/>
            <a:ext cx="8449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1452" y="3483864"/>
            <a:ext cx="311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El agente de carga de Gutis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63093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41064"/>
            <a:ext cx="18544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23A"/>
                </a:solidFill>
                <a:latin typeface="Consolas"/>
              </a:rP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1955" y="3941064"/>
            <a:ext cx="84490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1452" y="3941064"/>
            <a:ext cx="311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323A"/>
                </a:solidFill>
                <a:latin typeface="Segoe UI"/>
              </a:rPr>
              <a:t>No aplica, no se rastrea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6309360" cy="9525"/>
          </a:xfrm>
          <a:prstGeom prst="rect">
            <a:avLst/>
          </a:prstGeom>
          <a:solidFill>
            <a:srgbClr val="E6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920240"/>
            <a:ext cx="391363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210312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0B6E6B"/>
                </a:solidFill>
                <a:latin typeface="Segoe UI Semibold"/>
              </a:rPr>
              <a:t>ACCIÓN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323A"/>
                </a:solidFill>
                <a:latin typeface="Segoe UI Semibold"/>
              </a:rPr>
              <a:t>Cláusula en la OC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B74"/>
                </a:solidFill>
                <a:latin typeface="Segoe UI"/>
              </a:rPr>
              <a:t>Que el proveedor remita el BL o la guía aérea madre dentro de X días del zarpe, como condición del pedido.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401568"/>
            <a:ext cx="391363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80" y="3584448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0B6E6B"/>
                </a:solidFill>
                <a:latin typeface="Segoe UI Semibold"/>
              </a:rPr>
              <a:t>ACCIÓN 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323A"/>
                </a:solidFill>
                <a:latin typeface="Segoe UI Semibold"/>
              </a:rPr>
              <a:t>Guía madre, nunca la hija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B74"/>
                </a:solidFill>
                <a:latin typeface="Segoe UI"/>
              </a:rPr>
              <a:t>La guía madre empieza con el prefijo de la aerolínea: 020 Lufthansa, 176 Emirates, 134 Avianca.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4882896"/>
            <a:ext cx="391363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5065776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spc="150">
                <a:solidFill>
                  <a:srgbClr val="0B6E6B"/>
                </a:solidFill>
                <a:latin typeface="Segoe UI Semibold"/>
              </a:rPr>
              <a:t>ACCIÓN 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323A"/>
                </a:solidFill>
                <a:latin typeface="Segoe UI Semibold"/>
              </a:rPr>
              <a:t>Un dato que falta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B74"/>
                </a:solidFill>
                <a:latin typeface="Segoe UI"/>
              </a:rPr>
              <a:t>¿Con cuántos días de antelación al arribo se tiene el número de embarque? Decide el tamaño de la compra.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60">
                <a:solidFill>
                  <a:srgbClr val="0B6E6B"/>
                </a:solidFill>
                <a:latin typeface="Segoe UI Semibold"/>
              </a:rPr>
              <a:t>ADVERTENCIA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323A"/>
                </a:solidFill>
                <a:latin typeface="Segoe UI Semibold"/>
              </a:rPr>
              <a:t>El riesgo que hay que mirar antes de pagar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0545775" cy="12700"/>
          </a:xfrm>
          <a:prstGeom prst="rect">
            <a:avLst/>
          </a:prstGeom>
          <a:solidFill>
            <a:srgbClr val="CF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45775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10545775" cy="5080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849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6323A"/>
                </a:solidFill>
                <a:latin typeface="Segoe UI Semibold"/>
              </a:rPr>
              <a:t>De las cuatro referencias recibidas para esta prueba, tres llegaron con la carga ya encima o entregada.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526B74"/>
                </a:solidFill>
                <a:latin typeface="Segoe UI"/>
              </a:rPr>
              <a:t>La guía aérea de Lufthansa corresponde a un envío entregado el 7 de septiembre. El número llegó el 14: siete días tarde.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323A"/>
                </a:solidFill>
                <a:latin typeface="Segoe UI"/>
              </a:rPr>
              <a:t>Si ese es el patrón habitual, el sistema pagaría por confirmar lo que ya se sabía. No es un problema de precio ni de proveedor: es de cuándo se captura la referencia.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486400"/>
            <a:ext cx="10545775" cy="658368"/>
          </a:xfrm>
          <a:prstGeom prst="rect">
            <a:avLst/>
          </a:prstGeom>
          <a:solidFill>
            <a:srgbClr val="F6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650992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C5A12"/>
                </a:solidFill>
                <a:latin typeface="Segoe UI Semibold"/>
              </a:rPr>
              <a:t>Por eso la acción 3 vale más que cualquier ajuste al presupuesto, y conviene medirla antes de la compra de diciembre.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949B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200"/>
              </a:spcAft>
            </a:pPr>
            <a:r>
              <a:rPr sz="1300" b="0" spc="220">
                <a:solidFill>
                  <a:srgbClr val="52BDB4"/>
                </a:solidFill>
                <a:latin typeface="Segoe UI Semibold"/>
              </a:rPr>
              <a:t>EN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50">
                <a:solidFill>
                  <a:srgbClr val="74898F"/>
                </a:solidFill>
                <a:latin typeface="Segoe UI Semibold"/>
              </a:rPr>
              <a:t>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075688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FBF83"/>
                </a:solidFill>
                <a:latin typeface="Segoe UI Semibold"/>
              </a:rPr>
              <a:t>ShipsGo, para marítimo y aéreo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788920"/>
            <a:ext cx="9601200" cy="9525"/>
          </a:xfrm>
          <a:prstGeom prst="rect">
            <a:avLst/>
          </a:prstGeom>
          <a:solidFill>
            <a:srgbClr val="2C4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900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50">
                <a:solidFill>
                  <a:srgbClr val="74898F"/>
                </a:solidFill>
                <a:latin typeface="Segoe UI Semibold"/>
              </a:rPr>
              <a:t>COSTO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16936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DDA94F"/>
                </a:solidFill>
                <a:latin typeface="Segoe UI Semibold"/>
              </a:rPr>
              <a:t>~US$750 al año · US$2 por embarque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630168"/>
            <a:ext cx="9601200" cy="9525"/>
          </a:xfrm>
          <a:prstGeom prst="rect">
            <a:avLst/>
          </a:prstGeom>
          <a:solidFill>
            <a:srgbClr val="2C4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83133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50">
                <a:solidFill>
                  <a:srgbClr val="74898F"/>
                </a:solidFill>
                <a:latin typeface="Segoe UI Semibold"/>
              </a:rPr>
              <a:t>CUÁNDO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58184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4EDEB"/>
                </a:solidFill>
                <a:latin typeface="Segoe UI Semibold"/>
              </a:rPr>
              <a:t>Diciembre, en dos tandas de 200 créditos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471416"/>
            <a:ext cx="9601200" cy="9525"/>
          </a:xfrm>
          <a:prstGeom prst="rect">
            <a:avLst/>
          </a:prstGeom>
          <a:solidFill>
            <a:srgbClr val="2C4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67258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50">
                <a:solidFill>
                  <a:srgbClr val="74898F"/>
                </a:solidFill>
                <a:latin typeface="Segoe UI Semibold"/>
              </a:rPr>
              <a:t>DE COMPRAS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599432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2BDB4"/>
                </a:solidFill>
                <a:latin typeface="Segoe UI Semibold"/>
              </a:rPr>
              <a:t>Exigir la referencia en las 71 órdenes CIF/CIP/CPT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5312664"/>
            <a:ext cx="9601200" cy="9525"/>
          </a:xfrm>
          <a:prstGeom prst="rect">
            <a:avLst/>
          </a:prstGeom>
          <a:solidFill>
            <a:srgbClr val="2C4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8064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898F"/>
                </a:solidFill>
                <a:latin typeface="Consolas"/>
              </a:rPr>
              <a:t>Evidencia técnica completa en docs/api-references.md del repositorio TrackIn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